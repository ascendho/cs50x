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45C0B7-AAFD-4C93-8EC9-C150E4A58142}">
  <a:tblStyle styleId="{5045C0B7-AAFD-4C93-8EC9-C150E4A581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tml.spec.whatwg.org/multipage/input.html#valid-e-mail-address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2129a36a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2129a36a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21faf64f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21faf64f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Forms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21faf64f6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21faf64f6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validate{0,1,2,3}.py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2129a36a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22129a36a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2129a36a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2129a36a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22129a36a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22129a36a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validate4.py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22129a36aa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22129a36aa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validate5.py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21faf64f6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21faf64f6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\begin{tikzpicture}[-&gt;,&gt;=stealth',shorten &gt;=1pt,auto,node distance=3.5cm,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scale = 1,transform shape]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\node[state,initial] (q1) {$q1$};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\node[state,accepting] (q2) [right of=q1] {$q2$};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\path (q1) edge[loop above]              node {·} (q1)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(q1) edge              node {\textbf{@}} (q2)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(q2) edge[loop above]              node {·} (q2);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\end{tikzpicture}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21faf64f6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221faf64f6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validate{6,7}.py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21faf64f6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21faf64f6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\begin{tikzpicture}[-&gt;,&gt;=stealth',shorten &gt;=1pt,auto,node distance=3.5cm,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scale = 1,transform shape]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\node[state,initial] (q1) {$q1$};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\node[state] (q2) [right of=q1] {$q2$};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\node[state] (q3) [right of=q2] {$q3$};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\node[state,accepting] (q4) [right of=q3] {$q4$};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\path (q1) edge              node {·} (q2)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(q2) edge[loop above]              node {·} (q2)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(q2) edge              node {\textbf{@}} (q3)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(q3) edge              node {·} (q4)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(q4) edge[loop above]              node {·} (q4);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\end{tikzpicture}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21faf64f6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21faf64f6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validate8.py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21faf64f6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221faf64f6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validate9.py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221faf64f6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221faf64f6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validate10.py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221faf64f6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221faf64f6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validate{11,12}.py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2129a36a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2129a36a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https://html.spec.whatwg.org/multipage/input.html#valid-e-mail-address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556893641_3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556893641_3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2556893641_3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2556893641_3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21faf64f6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21faf64f6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format{0,1}.py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221faf64f6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221faf64f6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[</a:t>
            </a:r>
            <a:r>
              <a:rPr lang="en">
                <a:solidFill>
                  <a:schemeClr val="dk1"/>
                </a:solidFill>
              </a:rPr>
              <a:t>python 3.8]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format2.py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22129a36aa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22129a36aa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twitter{0,1,2,3,4,5}.py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1faf64f6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221faf64f6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21faf64f6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221faf64f6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2129a36a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2129a36a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python.org/3/library/re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Introduction to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with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Expressions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expressions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regexes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docs.python.org/3/library/re.html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re.search(pattern, string, flags=0)</a:t>
            </a:r>
            <a:endParaRPr sz="3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9"/>
          <p:cNvGraphicFramePr/>
          <p:nvPr/>
        </p:nvGraphicFramePr>
        <p:xfrm>
          <a:off x="952500" y="74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{5045C0B7-AAFD-4C93-8EC9-C150E4A58142}</a:tableStyleId>
              </a:tblPr>
              <a:tblGrid>
                <a:gridCol w="1781500"/>
                <a:gridCol w="545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any character except a newline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0 or more repetitions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1 or more repetitions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0 or 1 repetition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{m}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 repetitions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{m,n}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m–n repetitions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775" y="1388575"/>
            <a:ext cx="5872694" cy="23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21"/>
          <p:cNvGraphicFramePr/>
          <p:nvPr/>
        </p:nvGraphicFramePr>
        <p:xfrm>
          <a:off x="952500" y="74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{5045C0B7-AAFD-4C93-8EC9-C150E4A58142}</a:tableStyleId>
              </a:tblPr>
              <a:tblGrid>
                <a:gridCol w="1781500"/>
                <a:gridCol w="545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any character except a newline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0 or more repetitions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1 or more repetitions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0 or 1 repetition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{m}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 repetitions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{m,n}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m–n repetitions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65972"/>
            <a:ext cx="6739250" cy="16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Google Shape;105;p23"/>
          <p:cNvGraphicFramePr/>
          <p:nvPr/>
        </p:nvGraphicFramePr>
        <p:xfrm>
          <a:off x="952500" y="153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{5045C0B7-AAFD-4C93-8EC9-C150E4A58142}</a:tableStyleId>
              </a:tblPr>
              <a:tblGrid>
                <a:gridCol w="1781500"/>
                <a:gridCol w="545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^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matches the start of the string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matches the end of the string or just before the newline at the end of the string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Google Shape;110;p24"/>
          <p:cNvGraphicFramePr/>
          <p:nvPr/>
        </p:nvGraphicFramePr>
        <p:xfrm>
          <a:off x="952500" y="196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{5045C0B7-AAFD-4C93-8EC9-C150E4A58142}</a:tableStyleId>
              </a:tblPr>
              <a:tblGrid>
                <a:gridCol w="1781500"/>
                <a:gridCol w="545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[]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set of characters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[^]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complementing the set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25"/>
          <p:cNvGraphicFramePr/>
          <p:nvPr/>
        </p:nvGraphicFramePr>
        <p:xfrm>
          <a:off x="952500" y="52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{5045C0B7-AAFD-4C93-8EC9-C150E4A58142}</a:tableStyleId>
              </a:tblPr>
              <a:tblGrid>
                <a:gridCol w="1781500"/>
                <a:gridCol w="545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\d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decimal digit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\D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not a decimal digit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\s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whitespace characters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\S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not a whitespace character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\w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word character … as well as numbers and the underscore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\W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not a word character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420">
                <a:latin typeface="Consolas"/>
                <a:ea typeface="Consolas"/>
                <a:cs typeface="Consolas"/>
                <a:sym typeface="Consolas"/>
              </a:rPr>
              <a:t>re.IGNORECASE</a:t>
            </a:r>
            <a:endParaRPr sz="34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420">
                <a:latin typeface="Consolas"/>
                <a:ea typeface="Consolas"/>
                <a:cs typeface="Consolas"/>
                <a:sym typeface="Consolas"/>
              </a:rPr>
              <a:t>re.MULTILINE</a:t>
            </a:r>
            <a:endParaRPr sz="34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420">
                <a:latin typeface="Consolas"/>
                <a:ea typeface="Consolas"/>
                <a:cs typeface="Consolas"/>
                <a:sym typeface="Consolas"/>
              </a:rPr>
              <a:t>re.DOTALL</a:t>
            </a:r>
            <a:endParaRPr sz="34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490250" y="450150"/>
            <a:ext cx="8151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latin typeface="Consolas"/>
                <a:ea typeface="Consolas"/>
                <a:cs typeface="Consolas"/>
                <a:sym typeface="Consolas"/>
              </a:rPr>
              <a:t>^[a-zA-Z0-9.!#$%&amp;'*+\/=?^_`{|}~-]+@[a-zA-Z0-9](?:[a-zA-Z0-9-]{0,61}[a-zA-Z0-9])?(?:\.[a-zA-Z0-9](?:[a-zA-Z0-9-]{0,61}[a-zA-Z0-9])?)*$</a:t>
            </a:r>
            <a:endParaRPr sz="4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Consolas"/>
                <a:ea typeface="Consolas"/>
                <a:cs typeface="Consolas"/>
                <a:sym typeface="Consolas"/>
              </a:rPr>
              <a:t>re.match(pattern, string, flags=0)</a:t>
            </a:r>
            <a:endParaRPr sz="3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re.fullmatch(pattern, string, flags=0)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30"/>
          <p:cNvGraphicFramePr/>
          <p:nvPr/>
        </p:nvGraphicFramePr>
        <p:xfrm>
          <a:off x="952500" y="16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{5045C0B7-AAFD-4C93-8EC9-C150E4A58142}</a:tableStyleId>
              </a:tblPr>
              <a:tblGrid>
                <a:gridCol w="1781500"/>
                <a:gridCol w="545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A|B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either </a:t>
                      </a:r>
                      <a:r>
                        <a:rPr i="1" lang="en" sz="2800"/>
                        <a:t>A</a:t>
                      </a:r>
                      <a:r>
                        <a:rPr lang="en" sz="2800"/>
                        <a:t> or </a:t>
                      </a:r>
                      <a:r>
                        <a:rPr i="1" lang="en" sz="2800"/>
                        <a:t>B</a:t>
                      </a:r>
                      <a:endParaRPr i="1"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(...)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a group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(?:...)</a:t>
                      </a:r>
                      <a:endParaRPr sz="2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/>
                        <a:t>non-capturing version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0">
                <a:latin typeface="Consolas"/>
                <a:ea typeface="Consolas"/>
                <a:cs typeface="Consolas"/>
                <a:sym typeface="Consolas"/>
              </a:rPr>
              <a:t>:=</a:t>
            </a:r>
            <a:endParaRPr sz="19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re.sub(pattern, repl, string, count=0, flags=0)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re.split(pattern, string, maxsplit=0, flags=0)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nsolas"/>
                <a:ea typeface="Consolas"/>
                <a:cs typeface="Consolas"/>
                <a:sym typeface="Consolas"/>
              </a:rPr>
              <a:t>re.findall(pattern, string, flags=0)</a:t>
            </a:r>
            <a:endParaRPr sz="3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Introduction to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with Python</a:t>
            </a:r>
            <a:endParaRPr/>
          </a:p>
        </p:txBody>
      </p:sp>
      <p:sp>
        <p:nvSpPr>
          <p:cNvPr id="166" name="Google Shape;166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Expressions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