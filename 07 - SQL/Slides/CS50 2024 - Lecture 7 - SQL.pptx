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6AE002-198B-43E4-A178-AE203725301C}">
  <a:tblStyle styleId="{3B6AE002-198B-43E4-A178-AE20372530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orms.gle/WwxB5tNJQ6uvPjHAA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apple/ios-17.4/selfie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cxhPm4DSar6J8Yh1yMBEPQ0ihA6s3RuCUdVygr-3wB6jR4Rg/viewform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Todn2bYuRz_LqYrOaJy-A9XVoynhncqICRTnHluc38o/edit?usp=sharing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5g5bRE3WF2PgkCm9LhKn2hdOmTxhk9aX_U06TMYcu0A/edit?usp=sharing" TargetMode="External"/><Relationship Id="rId3" Type="http://schemas.openxmlformats.org/officeDocument/2006/relationships/hyperlink" Target="https://docs.google.com/spreadsheets/d/1tETwE0k0tERu1p1aOt8Rfitot1k3f77ywS8kicBPqdg/edit?usp=sharing" TargetMode="External"/><Relationship Id="rId4" Type="http://schemas.openxmlformats.org/officeDocument/2006/relationships/hyperlink" Target="https://docs.google.com/spreadsheets/d/1Ey_E4W1LsHYp2MPWMqv8Q8IFNDcoAth_hUQNx3j3uV8/edit?usp=sharing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instagram.com/p/CmUv48DLvxd/" TargetMode="Externa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xkcd.com/327/" TargetMode="Externa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726aa6700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726aa6700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0b4e9944f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0b4e9944f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b4e9944f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0b4e9944f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656b02730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656b02730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https://forms.gle/WwxB5tNJQ6uvPjHAA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94ab6f896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94ab6f896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https://emojipedia.org/apple/ios-17.4/selfie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56b0273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56b0273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https://docs.google.com/forms/d/e/1FAIpQLScxhPm4DSar6J8Yh1yMBEPQ0ihA6s3RuCUdVygr-3wB6jR4Rg/viewform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656b02730f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656b02730f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https://docs.google.com/spreadsheets/d/1Todn2bYuRz_LqYrOaJy-A9XVoynhncqICRTnHluc38o/edit?usp=sharing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656b02730f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656b02730f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3e0bd9f2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3e0bd9f2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favorites{0,1,2,3,4}.py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94ab6f896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94ab6f896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favorites{5,6,7,8}.py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3e0bd9f2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3e0bd9f2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56b02730f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56b02730f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656b02730f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656b02730f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56b02730f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56b02730f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b4e9944f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b4e9944f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656b02730f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656b02730f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b4e9944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b4e9944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b4e9944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b4e9944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a3e0bd9f2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a3e0bd9f2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482da9ab1cbbaab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482da9ab1cbbaab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750c39d9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750c39d9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94ab6f896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94ab6f896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favorites.csv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3e0bd9f2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3e0bd9f2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f7562e1027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f7562e1027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/>
              <a:t>SELECT * FROM favorites;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/>
              <a:t>SELECT language FROM favorites;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f7562e1027_1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f7562e1027_1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DISTINCT language FROM favorites;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</a:pPr>
            <a:r>
              <a:rPr lang="en"/>
              <a:t>SELECT COUNT(DISTINCT language) FROM favorites;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7562e1027_1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f7562e1027_1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problem = 'Hello, World';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(problem = 'Hello, World' OR problem = 'Hello, It''s Me');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problem LIKE 'Hello, %';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b4e9944f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b4e9944f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language, COUNT(*) FROM favorites GROUP BY language;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0b4e9944f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0b4e9944f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b4e9944f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b4e9944f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b4e9944f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b4e9944f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b4e9944f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b4e9944f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b4e9944f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b4e9944f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FROM favorites GROUP BY language ORDER BY COUNT(*) DESC;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AS n FROM favorites GROUP BY language ORDER BY n DESC;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AS n FROM favorites GROUP BY language ORDER BY n DESC LIMIT 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a3e0bd9f2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a3e0bd9f2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INSERT INTO favorites (language, problem) VALUES('SQL', 'Fiftyville');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favorites;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94ab6f896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94ab6f896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f750c39d9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f750c39d9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DELETE FROM favorites WHERE Timestamp IS NULL;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f750c39d9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f750c39d9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UPDATE favorites SET language = 'SQL', problem = 'Fiftyville';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favorites;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DELETE FROM favorites;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favorites;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726aa6700f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726aa6700f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https://docs.google.com/spreadsheets/d/15g5bRE3WF2PgkCm9LhKn2hdOmTxhk9aX_U06TMYcu0A/edit?usp=sharing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https://docs.google.com/spreadsheets/d/1tETwE0k0tERu1p1aOt8Rfitot1k3f77ywS8kicBPqdg/edit?usp=sharing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https://docs.google.com/spreadsheets/d/1Ey_E4W1LsHYp2MPWMqv8Q8IFNDcoAth_hUQNx3j3uV8/edit?usp=sharing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94ab6f8964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94ab6f8964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4ab6f8964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94ab6f8964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LIMIT 10;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ratings LIMIT 10;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94ab6f8964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94ab6f8964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94ab6f8964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94ab6f8964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shows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ratings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94ab6f8964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94ab6f8964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94ab6f8964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94ab6f8964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94ab6f8964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94ab6f8964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ratings WHERE rating &gt;= 6.0 LIMIT 10;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show_id FROM ratings WHERE rating &gt;= 6.0 LIMIT 10;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shows WHERE id IN (SELECT show_id FROM ratings WHERE rating &gt;= 6.0) LIMIT 10;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title FROM shows WHERE id IN (SELECT show_id FROM ratings WHERE rating &gt;= 6.0) LIMIT 10;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94ab6f8964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94ab6f8964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94ab6f896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94ab6f896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94ab6f8964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94ab6f8964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94ab6f8964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94ab6f8964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 FROM shows JOIN ratings ON shows.id = ratings.show_id WHERE rating &gt;= 6.0 LIMIT 10;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94ab6f8964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94ab6f8964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94ab6f8964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94ab6f8964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94ab6f8964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94ab6f8964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title, rating FROM shows JOIN ratings ON shows.id = ratings.show_id WHERE rating &gt;= 6.0 LIMIT 10;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94ab6f8964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94ab6f8964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94ab6f8964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94ab6f8964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genres LIMIT 10;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id = 63881;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94ab6f8964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94ab6f8964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genres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genre FROM genres WHERE show_id = 63881;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genre FROM genres WHERE show_id = (SELECT id FROM shows WHERE title = 'Catweazle');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94ab6f8964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94ab6f8964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94ab6f8964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94ab6f8964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94ab6f8964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94ab6f8964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FROM shows JOIN genres ON shows.id = genres.show_id WHERE id = 63881;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94ab6f8964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94ab6f8964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94ab6f8964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94ab6f8964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94ab6f8964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94ab6f8964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94ab6f8964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94ab6f8964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title, genre FROM shows JOIN genres ON shows.id = genres.show_id WHERE id = 63881;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94ab6f8964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94ab6f8964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genre FROM shows JOIN genres ON shows.id = genres.show_id WHERE id = 63881;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94ab6f8964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94ab6f8964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94ab6f8964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94ab6f8964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94ab6f8964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94ab6f8964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 AND year = 2005;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name FROM people WHERE id IN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person_id FROM stars WHERE show_id =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id FROM shows WHERE title = 'The Office' AND year = 2005));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JOIN stars ON shows.id = stars.show_id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JOIN people ON stars.person_id = people.id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WHERE name = 'Steve Carell';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shows, stars, people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WHERE shows.id = stars.show_id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people.id = stars.person_id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name = 'Steve Carell';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94ab6f8964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94ab6f8964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.schema writers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56b02730f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56b02730f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.timer 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a3e0bd9f2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a3e0bd9f2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CREATE INDEX title_index ON shows (title);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656b02730f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656b02730f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656b02730f_1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656b02730f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shows, stars, people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shows.id = stars.show_id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people.id = stars.person_id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name = 'Steve Carell';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INDEX name_index ON people (name);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INDEX person_index ON stars (person_id);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726aa6700f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726aa6700f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726aa6700f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726aa6700f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favorites8.py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46aa91968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46aa91968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MILK STORY (lock or note)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0b4e9944f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0b4e9944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https://www.instagram.com/p/CmUv48DLvxd/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656b02730f_1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656b02730f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46aa91968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46aa91968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a3e0bd9f2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a3e0bd9f2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726aa6700f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726aa6700f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0b4e9944f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0b4e9944f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726aa6700f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726aa6700f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726aa6700f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726aa6700f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726aa6700f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726aa6700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726aa6700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726aa6700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726aa6700f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726aa6700f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726aa6700f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726aa6700f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726aa6700f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726aa6700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726aa6700f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726aa6700f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0b4e9944f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0b4e9944f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94ab6f8964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94ab6f8964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726aa6700f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726aa6700f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726aa6700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726aa6700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726aa6700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726aa6700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726aa6700f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726aa6700f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https://xkcd.com/327/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726aa6700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726aa6700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s50.ly/favorit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cs50.readthedocs.io/libraries/cs50/python/#cs50.SQL" TargetMode="Externa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3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0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souvenir photo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cs50.ly/favorites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499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52400" y="1304250"/>
            <a:ext cx="2535000" cy="25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50" y="152400"/>
            <a:ext cx="759529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350" y="152400"/>
            <a:ext cx="759529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flat-file database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22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database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DELETE, DROP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DELETE, DROP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TABLE table (column type,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sqlite3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sqlite3 FILE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.mode csv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.import FILE TABLE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.schema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 columns FROM table;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DISTINCT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LOWER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UPPER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39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40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C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41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42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highlight>
                            <a:schemeClr val="dk1"/>
                          </a:highlight>
                        </a:rPr>
                        <a:t>SQL</a:t>
                      </a:r>
                      <a:endParaRPr>
                        <a:solidFill>
                          <a:srgbClr val="21212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43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97525"/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COUNT(*)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INSERT INTO table (column, ...) VALUES(value,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DELETE FROM table WHERE condition;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 table SET column = value WHERE condition;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IMDb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51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1"/>
          <p:cNvSpPr/>
          <p:nvPr/>
        </p:nvSpPr>
        <p:spPr>
          <a:xfrm>
            <a:off x="5945557" y="1627556"/>
            <a:ext cx="66900" cy="30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1"/>
          <p:cNvSpPr/>
          <p:nvPr/>
        </p:nvSpPr>
        <p:spPr>
          <a:xfrm>
            <a:off x="5982584" y="29761"/>
            <a:ext cx="3118200" cy="157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1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one-to-one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3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3"/>
          <p:cNvSpPr/>
          <p:nvPr/>
        </p:nvSpPr>
        <p:spPr>
          <a:xfrm>
            <a:off x="5945557" y="1627556"/>
            <a:ext cx="66900" cy="30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3"/>
          <p:cNvSpPr/>
          <p:nvPr/>
        </p:nvSpPr>
        <p:spPr>
          <a:xfrm>
            <a:off x="5982584" y="29761"/>
            <a:ext cx="3118200" cy="157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3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BLOB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NUMERIC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NOT NULL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UNIQUE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PRIMARY KEY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FOREIGN KEY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58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904500"/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9" name="Google Shape;289;p58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59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904500"/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5" name="Google Shape;295;p59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0" name="Google Shape;300;p60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904500"/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1" name="Google Shape;301;p60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Google Shape;306;p61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904500"/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7" name="Google Shape;307;p61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2" name="Google Shape;312;p62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13" name="Google Shape;313;p62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" name="Google Shape;318;p63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19" name="Google Shape;319;p63"/>
          <p:cNvGraphicFramePr/>
          <p:nvPr/>
        </p:nvGraphicFramePr>
        <p:xfrm>
          <a:off x="32618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5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5"/>
          <p:cNvSpPr/>
          <p:nvPr/>
        </p:nvSpPr>
        <p:spPr>
          <a:xfrm>
            <a:off x="6012346" y="1575941"/>
            <a:ext cx="3118200" cy="354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5"/>
          <p:cNvSpPr/>
          <p:nvPr/>
        </p:nvSpPr>
        <p:spPr>
          <a:xfrm>
            <a:off x="5940543" y="1602891"/>
            <a:ext cx="3118200" cy="354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5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one-to-many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Google Shape;343;p67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4" name="Google Shape;344;p67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9" name="Google Shape;349;p68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0" name="Google Shape;350;p68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Google Shape;355;p69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6" name="Google Shape;356;p69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1" name="Google Shape;361;p70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2" name="Google Shape;362;p70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71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8" name="Google Shape;368;p71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3" name="Google Shape;373;p72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74" name="Google Shape;374;p72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9" name="Google Shape;379;p73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80" name="Google Shape;380;p73"/>
          <p:cNvGraphicFramePr/>
          <p:nvPr/>
        </p:nvGraphicFramePr>
        <p:xfrm>
          <a:off x="3243175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5" name="Google Shape;385;p74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{3B6AE002-198B-43E4-A178-AE203725301C}</a:tableStyleId>
              </a:tblPr>
              <a:tblGrid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76"/>
          <p:cNvSpPr/>
          <p:nvPr/>
        </p:nvSpPr>
        <p:spPr>
          <a:xfrm>
            <a:off x="5671034" y="0"/>
            <a:ext cx="34542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76"/>
          <p:cNvSpPr/>
          <p:nvPr/>
        </p:nvSpPr>
        <p:spPr>
          <a:xfrm>
            <a:off x="3179884" y="2884300"/>
            <a:ext cx="2975100" cy="203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76"/>
          <p:cNvSpPr/>
          <p:nvPr/>
        </p:nvSpPr>
        <p:spPr>
          <a:xfrm>
            <a:off x="2465619" y="1435234"/>
            <a:ext cx="360600" cy="242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76"/>
          <p:cNvSpPr/>
          <p:nvPr/>
        </p:nvSpPr>
        <p:spPr>
          <a:xfrm>
            <a:off x="2787585" y="1549953"/>
            <a:ext cx="360600" cy="242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many-to-many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indexes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INDEX name ON table (column,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B-trees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SQL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uFill>
                  <a:noFill/>
                </a:uFill>
                <a:hlinkClick r:id="rId3"/>
              </a:rPr>
              <a:t>cs50.readthedocs.io/libraries/cs50/python/#cs50.SQL</a:t>
            </a:r>
            <a:r>
              <a:rPr lang="en" sz="2700"/>
              <a:t> </a:t>
            </a:r>
            <a:endParaRPr sz="27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8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conditions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412" y="0"/>
            <a:ext cx="3621163" cy="51435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7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db.execute("SELECT likes FROM posts WHERE id = ?", id);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likes = rows[0]["likes"]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db.execute("UPDATE posts SET likes = ? WHERE id = ?", likes + 1, id);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BEGIN TRANSACTION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COMMIT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ROLLBACK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db.execute("BEGIN TRANSACTION")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rows = db.execute("SELECT likes FROM posts WHERE id = ?", id);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likes = rows[0]["likes"]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db.execute("UPDATE posts SET likes = ? WHERE id = ?", likes + 1, id);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db.execute("COMMIT")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injection attacks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625" y="152400"/>
            <a:ext cx="700274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225" y="152400"/>
            <a:ext cx="515756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225" y="152400"/>
            <a:ext cx="515756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9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7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f"SELECT * FROM users WHERE username = '{username}' AND password = '{password}'")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rows = db.execute(f"SELECT * FROM users WHERE username = </a:t>
            </a:r>
            <a:r>
              <a:rPr lang="en" sz="1100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'malan@harvard.edu'--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'{password}'")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9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db.execute(f"SELECT * FROM users WHERE username = </a:t>
            </a:r>
            <a:r>
              <a:rPr lang="en" sz="1100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'malan@harvard.edu'</a:t>
            </a:r>
            <a:r>
              <a:rPr lang="en" sz="1100" u="sng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</a:t>
            </a:r>
            <a:r>
              <a:rPr lang="en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SELECT * FROM users WHERE username = </a:t>
            </a:r>
            <a:r>
              <a:rPr lang="en" sz="1100" u="sng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'malan@harvard.edu'</a:t>
            </a:r>
            <a:r>
              <a:rPr lang="en" sz="1100" u="sng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0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SELECT * FROM users WHERE username = </a:t>
            </a:r>
            <a:r>
              <a:rPr lang="en" sz="1100" u="sng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'malan@harvard.edu''--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0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3538"/>
            <a:ext cx="9144000" cy="357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13" y="1277975"/>
            <a:ext cx="8406375" cy="25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